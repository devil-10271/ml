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0" r:id="rId9"/>
    <p:sldId id="261" r:id="rId10"/>
    <p:sldId id="266" r:id="rId11"/>
    <p:sldId id="263" r:id="rId12"/>
  </p:sldIdLst>
  <p:sldSz cx="14630400" cy="8229600"/>
  <p:notesSz cx="8229600" cy="14630400"/>
  <p:embeddedFontLst>
    <p:embeddedFont>
      <p:font typeface="Bricolage Grotesque Extra Bold" panose="020B0604020202020204" charset="0"/>
      <p:regular r:id="rId14"/>
    </p:embeddedFont>
    <p:embeddedFont>
      <p:font typeface="Cambria Math" panose="02040503050406030204" pitchFamily="18" charset="0"/>
      <p:regular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9" d="100"/>
          <a:sy n="59" d="100"/>
        </p:scale>
        <p:origin x="70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18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We're looking at a real-world case study on predicting coronary artery disease using patient data • Our target outcome is binary — patients either have coronary artery disease or they don't • We have four key predictors:
Sex (male/female) — this is categorical and an important risk factor
Age — ranges from 24 to 72 years, a continuous variable
Weight and BMI — categorized into four groups: underweight, normal, overweight, and obese • Notice we're mixing categorical and continuous variables, which is typical in medical data • Given this setup — a binary outcome with mixed predictor types — logistic regression is our ideal analytical approach • This method will help us estimate the probability of disease presence based on these patient characteristics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0953-7442-DAAF-963E-98FD9D08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45620-34D4-FEDB-3F09-E830BFB93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E0D06-C546-C754-8D39-E4032D8B1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9AEAA-7D0B-D0EE-BDD0-714FEB114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5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12C1-9A6A-338D-EFAC-3EBF2725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CE283-EDD9-A49C-061C-228FCA167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9DB53-AE73-E13B-5AD9-9240A5A38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9EEED-9948-A1F4-8F3A-E8A69728B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52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7F2C-AE81-FC0C-5271-A3D12E55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FF99A-A09B-FAE0-3DFE-805DD9952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1989D-F5DC-DB51-3B0D-4792BB2CF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A5FA6-996F-1226-F2BD-B50708A21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99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Desktop/WORK/PRACTICE/ML/CSVs/VIVA_4/FILES_MAIN/scatter%20for%20visuliztion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247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Logistic Regression for Heart Disease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824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Applying statistical modelling to understand and predict coronary artery disease risk using real health data.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271016"/>
            <a:ext cx="1632585" cy="426244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929878" y="5339001"/>
            <a:ext cx="136040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77528" y="5263396"/>
            <a:ext cx="209169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EEAE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2655112" y="5339001"/>
            <a:ext cx="18042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62940"/>
            <a:ext cx="11226165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Understanding Logistic Regression: The Basics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2148959"/>
            <a:ext cx="8456414" cy="47919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21798" y="1711642"/>
            <a:ext cx="4333875" cy="1777246"/>
          </a:xfrm>
          <a:prstGeom prst="roundRect">
            <a:avLst>
              <a:gd name="adj" fmla="val 6174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9598938" y="1711642"/>
            <a:ext cx="91440" cy="1777246"/>
          </a:xfrm>
          <a:prstGeom prst="roundRect">
            <a:avLst>
              <a:gd name="adj" fmla="val 89535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9908143" y="192940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What is it?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908143" y="2401372"/>
            <a:ext cx="382976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statistical method for predicting a </a:t>
            </a: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outcome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such as the presence or absence of disease.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21798" y="3656290"/>
            <a:ext cx="4333875" cy="1777246"/>
          </a:xfrm>
          <a:prstGeom prst="roundRect">
            <a:avLst>
              <a:gd name="adj" fmla="val 6174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9598938" y="3656290"/>
            <a:ext cx="91440" cy="1777246"/>
          </a:xfrm>
          <a:prstGeom prst="roundRect">
            <a:avLst>
              <a:gd name="adj" fmla="val 89535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9908143" y="387405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Goal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908143" y="4346019"/>
            <a:ext cx="382976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Determine whether predictor variables (exposures) have a </a:t>
            </a: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relationship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the outcome.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21798" y="5600938"/>
            <a:ext cx="4333875" cy="1777246"/>
          </a:xfrm>
          <a:prstGeom prst="roundRect">
            <a:avLst>
              <a:gd name="adj" fmla="val 6174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9598938" y="5600938"/>
            <a:ext cx="91440" cy="1777246"/>
          </a:xfrm>
          <a:prstGeom prst="roundRect">
            <a:avLst>
              <a:gd name="adj" fmla="val 89535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9908143" y="581870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908143" y="6290667"/>
            <a:ext cx="382976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the model, how it differs from linear regression, and how to interpret </a:t>
            </a: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odds ratios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C9D59-7F7C-DEFA-9219-1C960A946F93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1132546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Linear vs. Logistic Regression: A Crucial Distinction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234690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choice of regression model depends entirely on the </a:t>
            </a: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nature of your outcome variable</a:t>
            </a: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543205" y="3916204"/>
            <a:ext cx="2935724" cy="1827014"/>
          </a:xfrm>
          <a:prstGeom prst="roundRect">
            <a:avLst>
              <a:gd name="adj" fmla="val 415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3"/>
          <p:cNvSpPr/>
          <p:nvPr/>
        </p:nvSpPr>
        <p:spPr>
          <a:xfrm>
            <a:off x="7723942" y="4096941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Linear Regression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723942" y="4523303"/>
            <a:ext cx="25742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outcomes — quantifies effects using </a:t>
            </a: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slopes</a:t>
            </a: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differences in means.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622875" y="3916204"/>
            <a:ext cx="2935724" cy="1827014"/>
          </a:xfrm>
          <a:prstGeom prst="roundRect">
            <a:avLst>
              <a:gd name="adj" fmla="val 415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6"/>
          <p:cNvSpPr/>
          <p:nvPr/>
        </p:nvSpPr>
        <p:spPr>
          <a:xfrm>
            <a:off x="10803612" y="4096941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803612" y="4523303"/>
            <a:ext cx="2574250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outcomes — quantifies effects using </a:t>
            </a: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odds ratios</a:t>
            </a: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log-odds.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63E685-2CA2-3F28-E184-02E8EA2BF62B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3751" y="669369"/>
            <a:ext cx="8160782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Case Study: Predicting Coronary Artery Disease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51" y="1227534"/>
            <a:ext cx="276344" cy="2763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3751" y="1609130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Outcome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83751" y="1875473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Coronary Artery Disease —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 or No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751" y="2221706"/>
            <a:ext cx="276344" cy="2763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3751" y="2603302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Age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83751" y="2869644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variable ranging from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to 72 years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751" y="3215878"/>
            <a:ext cx="276344" cy="2763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3751" y="3597473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Cholesterol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83751" y="3863816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variable ranging from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to 299 range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751" y="4210050"/>
            <a:ext cx="276344" cy="2763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3751" y="4591645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BP (Blood Pressure)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83751" y="4857988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variable ranging from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110 to 169 range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751" y="5204222"/>
            <a:ext cx="276344" cy="2763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3751" y="5585817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Max Heart Rate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483751" y="5852160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variable ranging from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to 189 range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751" y="6198394"/>
            <a:ext cx="276344" cy="2763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83751" y="6579989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ECG Result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483751" y="6846332"/>
            <a:ext cx="817649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 lies between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</a:t>
            </a: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2.00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483751" y="7118866"/>
            <a:ext cx="8176498" cy="441365"/>
          </a:xfrm>
          <a:prstGeom prst="roundRect">
            <a:avLst>
              <a:gd name="adj" fmla="val 1315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863" y="7307818"/>
            <a:ext cx="172760" cy="13811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932736" y="7237571"/>
            <a:ext cx="7589401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 binary outcome and mixed predictor types, </a:t>
            </a: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 is the appropriate analytical method.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04242"/>
            <a:ext cx="855547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Interpreting Model Coefficients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025" y="1716524"/>
            <a:ext cx="13092351" cy="5910977"/>
          </a:xfrm>
          <a:prstGeom prst="roundRect">
            <a:avLst>
              <a:gd name="adj" fmla="val 15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76645" y="1724144"/>
            <a:ext cx="13077111" cy="962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996791" y="1859399"/>
            <a:ext cx="1568053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Stats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3011805" y="1859399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43237" y="1859399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Cholesterol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78598" y="1859399"/>
            <a:ext cx="160210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BP(Blood Pressure)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27663" y="1859399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Heart Rate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653832" y="1859399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174617" y="1859399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6645" y="2686883"/>
            <a:ext cx="13077111" cy="6166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996791" y="2822138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1805" y="2822138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43237" y="2822138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78598" y="2822138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27663" y="2822138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653832" y="2822138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74617" y="2822138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500.00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6645" y="3303508"/>
            <a:ext cx="13077111" cy="616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996791" y="3438763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1805" y="3438763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49.326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43237" y="3438763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225.106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78598" y="3438763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140.662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27663" y="3438763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154.532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653832" y="3438763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174617" y="3438763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0.314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76645" y="3920133"/>
            <a:ext cx="13077111" cy="6166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996791" y="4055388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011805" y="4055388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12.200386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943237" y="4055388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44.052378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78598" y="4055388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16.911646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27663" y="4055388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20.266189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653832" y="4055388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0.801612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2174617" y="4055388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0.464581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76645" y="4536758"/>
            <a:ext cx="13077111" cy="616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996791" y="4672013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011805" y="4672013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28.00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943237" y="4672013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150.00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878598" y="4672013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110.00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927663" y="4672013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120.00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653832" y="4672013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2174617" y="4672013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76645" y="5153382"/>
            <a:ext cx="13077111" cy="6166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996791" y="5288637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3011805" y="5288637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39.00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943237" y="5288637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187.00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878598" y="5288637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127.00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927663" y="5288637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137.00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0653832" y="5288637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2174617" y="5288637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776645" y="5770007"/>
            <a:ext cx="13077111" cy="616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3" name="Text 51"/>
          <p:cNvSpPr/>
          <p:nvPr/>
        </p:nvSpPr>
        <p:spPr>
          <a:xfrm>
            <a:off x="996791" y="5905262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3011805" y="5905262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51.00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4943237" y="5905262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224.50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878598" y="5905262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141.00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8927663" y="5905262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155.00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0653832" y="5905262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12174617" y="5905262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776645" y="6386632"/>
            <a:ext cx="13077111" cy="6166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1" name="Text 59"/>
          <p:cNvSpPr/>
          <p:nvPr/>
        </p:nvSpPr>
        <p:spPr>
          <a:xfrm>
            <a:off x="996791" y="6521887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3011805" y="6521887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60.00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4943237" y="6521887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262.00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6878598" y="6521887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155.00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8927663" y="6521887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172.00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10653832" y="6521887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2.00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12174617" y="6521887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776645" y="7003256"/>
            <a:ext cx="13077111" cy="616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9" name="Text 67"/>
          <p:cNvSpPr/>
          <p:nvPr/>
        </p:nvSpPr>
        <p:spPr>
          <a:xfrm>
            <a:off x="996791" y="7138511"/>
            <a:ext cx="15680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3011805" y="7138511"/>
            <a:ext cx="148447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69.00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4943237" y="7138511"/>
            <a:ext cx="148840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299.00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6878598" y="7138511"/>
            <a:ext cx="160210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169.00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8927663" y="7138511"/>
            <a:ext cx="127920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189.00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10653832" y="7138511"/>
            <a:ext cx="1073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2.00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12174617" y="7138511"/>
            <a:ext cx="14594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</a:t>
            </a:r>
            <a:endParaRPr lang="en-US" sz="17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8EEAC2-9CDF-BBC9-3C5E-39483E3D7C51}"/>
              </a:ext>
            </a:extLst>
          </p:cNvPr>
          <p:cNvSpPr txBox="1"/>
          <p:nvPr/>
        </p:nvSpPr>
        <p:spPr>
          <a:xfrm>
            <a:off x="12640805" y="7736324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2BDB-633D-A7AA-73EE-67774C81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4B0622-8A7E-270A-68C4-9193E10FC46D}"/>
              </a:ext>
            </a:extLst>
          </p:cNvPr>
          <p:cNvSpPr/>
          <p:nvPr/>
        </p:nvSpPr>
        <p:spPr>
          <a:xfrm>
            <a:off x="682228" y="238667"/>
            <a:ext cx="13004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</a:rPr>
              <a:t>This is PDFs (Probability Density Function of my data)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AA18D-CE8F-ED50-CE90-0FC1C7EEE1E6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7C7E09-3912-48A4-03D7-80FE05610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3" y="1296748"/>
            <a:ext cx="9493385" cy="6299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547DE1-52F9-008A-6753-0A03088B0471}"/>
              </a:ext>
            </a:extLst>
          </p:cNvPr>
          <p:cNvSpPr txBox="1"/>
          <p:nvPr/>
        </p:nvSpPr>
        <p:spPr>
          <a:xfrm>
            <a:off x="10784114" y="1494971"/>
            <a:ext cx="33527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Here The top four data is more near to normalize data (Bell Curve)</a:t>
            </a:r>
          </a:p>
          <a:p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The last one is the  is the show the outcome feature Pdf contain 2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For more analysis open this link :</a:t>
            </a:r>
          </a:p>
        </p:txBody>
      </p:sp>
    </p:spTree>
    <p:extLst>
      <p:ext uri="{BB962C8B-B14F-4D97-AF65-F5344CB8AC3E}">
        <p14:creationId xmlns:p14="http://schemas.microsoft.com/office/powerpoint/2010/main" val="103902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D5A4-588A-BB40-16B8-E63D2D8B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CF7CA-C5AD-96F8-5928-DB450DB1AC1C}"/>
              </a:ext>
            </a:extLst>
          </p:cNvPr>
          <p:cNvSpPr/>
          <p:nvPr/>
        </p:nvSpPr>
        <p:spPr>
          <a:xfrm>
            <a:off x="682228" y="238667"/>
            <a:ext cx="13004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</a:rPr>
              <a:t>Data visualization in Scatter Plot</a:t>
            </a:r>
          </a:p>
          <a:p>
            <a:pPr marL="0" indent="0" algn="l">
              <a:lnSpc>
                <a:spcPts val="4750"/>
              </a:lnSpc>
              <a:buNone/>
            </a:pP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A2548E-0F48-2275-6375-95BA074A8412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hlinkClick r:id="rId3" action="ppaction://hlinkfile"/>
            <a:extLst>
              <a:ext uri="{FF2B5EF4-FFF2-40B4-BE49-F238E27FC236}">
                <a16:creationId xmlns:a16="http://schemas.microsoft.com/office/drawing/2014/main" id="{767221AD-A5FD-0D51-6CA5-D75D726B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56" y="1488195"/>
            <a:ext cx="8330294" cy="59502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5B6098-D5C8-E39E-FADB-17EA0AD537B3}"/>
              </a:ext>
            </a:extLst>
          </p:cNvPr>
          <p:cNvSpPr txBox="1"/>
          <p:nvPr/>
        </p:nvSpPr>
        <p:spPr>
          <a:xfrm>
            <a:off x="8915400" y="2201142"/>
            <a:ext cx="55843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EEAEF6"/>
                </a:solidFill>
                <a:latin typeface="Bricolage Grotesque Extra Bold" pitchFamily="34" charset="0"/>
              </a:rPr>
              <a:t>3d plot for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X axis for Cholesterol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Y axis for Blood Pressure (BP)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Z axis for 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Yellow points shows that have a </a:t>
            </a: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Disease person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Blue points shows that have a not Disease person</a:t>
            </a:r>
          </a:p>
        </p:txBody>
      </p:sp>
    </p:spTree>
    <p:extLst>
      <p:ext uri="{BB962C8B-B14F-4D97-AF65-F5344CB8AC3E}">
        <p14:creationId xmlns:p14="http://schemas.microsoft.com/office/powerpoint/2010/main" val="81636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6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062476" y="693805"/>
            <a:ext cx="8074438" cy="1599452"/>
          </a:xfrm>
          <a:prstGeom prst="roundRect">
            <a:avLst>
              <a:gd name="adj" fmla="val 11791"/>
            </a:avLst>
          </a:prstGeom>
          <a:solidFill>
            <a:srgbClr val="282D5E"/>
          </a:solidFill>
          <a:ln/>
        </p:spPr>
        <p:txBody>
          <a:bodyPr/>
          <a:lstStyle/>
          <a:p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</a:rPr>
              <a:t>EQUATION FOR FINDING THE BEST FIT HYPER PLANE</a:t>
            </a:r>
            <a:endParaRPr lang="en-IN" sz="4450" b="1" dirty="0">
              <a:solidFill>
                <a:srgbClr val="EEAEF6"/>
              </a:solidFill>
              <a:latin typeface="Bricolage Grotesque Extra Bold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44621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6905E-4518-F44F-7AF5-0949E6A8B816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Shape 2">
                <a:extLst>
                  <a:ext uri="{FF2B5EF4-FFF2-40B4-BE49-F238E27FC236}">
                    <a16:creationId xmlns:a16="http://schemas.microsoft.com/office/drawing/2014/main" id="{4E25482F-BBF7-411E-7DAF-51A620DB9B52}"/>
                  </a:ext>
                </a:extLst>
              </p:cNvPr>
              <p:cNvSpPr/>
              <p:nvPr/>
            </p:nvSpPr>
            <p:spPr>
              <a:xfrm>
                <a:off x="6062476" y="2518882"/>
                <a:ext cx="8074438" cy="5393891"/>
              </a:xfrm>
              <a:prstGeom prst="roundRect">
                <a:avLst>
                  <a:gd name="adj" fmla="val 11791"/>
                </a:avLst>
              </a:prstGeom>
              <a:solidFill>
                <a:srgbClr val="282D5E"/>
              </a:solidFill>
              <a:ln/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EEAEF6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N" sz="2800" b="1" i="1">
                          <a:solidFill>
                            <a:srgbClr val="EEAEF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1">
                              <a:solidFill>
                                <a:srgbClr val="EEAEF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rgbClr val="EEAEF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 i="1">
                                  <a:solidFill>
                                    <a:srgbClr val="EEAEF6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sz="2800" b="1" i="1">
                                  <a:solidFill>
                                    <a:srgbClr val="EEAEF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1">
                                  <a:solidFill>
                                    <a:srgbClr val="EEAEF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EEAEF6"/>
                  </a:solidFill>
                  <a:latin typeface="Bricolage Grotesque Extra Bold" pitchFamily="34" charset="0"/>
                </a:endParaRPr>
              </a:p>
              <a:p>
                <a:pPr algn="ctr"/>
                <a:endParaRPr lang="en-IN" sz="2800" b="1" dirty="0">
                  <a:solidFill>
                    <a:srgbClr val="EEAEF6"/>
                  </a:solidFill>
                  <a:latin typeface="Bricolage Grotesque Extra Bold" pitchFamily="34" charset="0"/>
                </a:endParaRPr>
              </a:p>
              <a:p>
                <a:pPr algn="ctr"/>
                <a:r>
                  <a:rPr lang="en-IN" sz="2800" b="1" dirty="0">
                    <a:solidFill>
                      <a:srgbClr val="EEAEF6"/>
                    </a:solidFill>
                    <a:latin typeface="Bricolage Grotesque Extra Bold" pitchFamily="34" charset="0"/>
                  </a:rPr>
                  <a:t>This is a Sigmoid Function  to calculates the Hyper Plane</a:t>
                </a:r>
              </a:p>
              <a:p>
                <a:r>
                  <a:rPr lang="en-IN" b="1" dirty="0">
                    <a:solidFill>
                      <a:srgbClr val="EEAEF6"/>
                    </a:solidFill>
                    <a:latin typeface="Bricolage Grotesque Extra Bold" pitchFamily="34" charset="0"/>
                  </a:rPr>
                  <a:t>  </a:t>
                </a:r>
              </a:p>
              <a:p>
                <a:r>
                  <a:rPr lang="en-IN" b="1" dirty="0">
                    <a:solidFill>
                      <a:srgbClr val="EEAEF6"/>
                    </a:solidFill>
                    <a:latin typeface="Bricolage Grotesque Extra Bold" pitchFamily="34" charset="0"/>
                  </a:rPr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rgbClr val="EEAEF6"/>
                    </a:solidFill>
                    <a:latin typeface="Bricolage Grotesque Extra Bold" pitchFamily="34" charset="0"/>
                  </a:rPr>
                  <a:t>-x is represents the value of Betas (coefficient’s and Intercept)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b="1" dirty="0">
                  <a:solidFill>
                    <a:srgbClr val="EEAEF6"/>
                  </a:solidFill>
                  <a:latin typeface="Bricolage Grotesque Extra Bold" pitchFamily="34" charset="0"/>
                </a:endParaRPr>
              </a:p>
            </p:txBody>
          </p:sp>
        </mc:Choice>
        <mc:Fallback>
          <p:sp>
            <p:nvSpPr>
              <p:cNvPr id="8" name="Shape 2">
                <a:extLst>
                  <a:ext uri="{FF2B5EF4-FFF2-40B4-BE49-F238E27FC236}">
                    <a16:creationId xmlns:a16="http://schemas.microsoft.com/office/drawing/2014/main" id="{4E25482F-BBF7-411E-7DAF-51A620DB9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76" y="2518882"/>
                <a:ext cx="8074438" cy="5393891"/>
              </a:xfrm>
              <a:prstGeom prst="roundRect">
                <a:avLst>
                  <a:gd name="adj" fmla="val 11791"/>
                </a:avLst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5CF3534-4836-18D4-B293-2AEDE21AA5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933" t="33924" r="54694" b="56395"/>
          <a:stretch>
            <a:fillRect/>
          </a:stretch>
        </p:blipFill>
        <p:spPr>
          <a:xfrm>
            <a:off x="6280190" y="5877790"/>
            <a:ext cx="7674629" cy="154564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59832"/>
            <a:ext cx="1139916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Building a Logistic Model for Heart Disease Risk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1608534"/>
            <a:ext cx="8456414" cy="47919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7" y="6578648"/>
            <a:ext cx="6632973" cy="38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EAEF6"/>
                </a:solidFill>
                <a:latin typeface="Bricolage Grotesque Extra Bold" pitchFamily="34" charset="0"/>
              </a:rPr>
              <a:t>Here is the Accuracy Score for Logistic regression model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EAEF6"/>
                </a:solidFill>
                <a:latin typeface="Bricolage Grotesque Extra Bold" pitchFamily="34" charset="0"/>
              </a:rPr>
              <a:t>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21798" y="3958828"/>
            <a:ext cx="43338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4071" y="1637625"/>
            <a:ext cx="292298" cy="292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38836" y="1637625"/>
            <a:ext cx="4209336" cy="663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Montserrat" pitchFamily="34" charset="0"/>
              </a:rPr>
              <a:t>Partition of data :  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</a:rPr>
              <a:t>divide data for training and testing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5030" y="2906659"/>
            <a:ext cx="292298" cy="2922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46338" y="2864961"/>
            <a:ext cx="4209336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: 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Training data to Train the model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5621" y="4028861"/>
            <a:ext cx="292298" cy="2922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46338" y="4028861"/>
            <a:ext cx="4209335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 : 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prediction we use the testing portion for data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9837B-9E20-B4FF-AB15-10E5FA3ECEFE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0B6DC-17AF-97EB-2441-A138FF864D0C}"/>
              </a:ext>
            </a:extLst>
          </p:cNvPr>
          <p:cNvSpPr txBox="1"/>
          <p:nvPr/>
        </p:nvSpPr>
        <p:spPr>
          <a:xfrm>
            <a:off x="1998494" y="7125681"/>
            <a:ext cx="6274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5DCE6"/>
                </a:solidFill>
                <a:latin typeface="Montserrat" pitchFamily="34" charset="0"/>
              </a:rPr>
              <a:t>72 %  </a:t>
            </a:r>
            <a:r>
              <a:rPr lang="en-US" sz="3200" dirty="0">
                <a:solidFill>
                  <a:srgbClr val="E5DCE6"/>
                </a:solidFill>
                <a:latin typeface="Montserrat" pitchFamily="34" charset="0"/>
              </a:rPr>
              <a:t>Accuracy of my model </a:t>
            </a:r>
            <a:endParaRPr lang="en-IN" sz="3200" dirty="0">
              <a:solidFill>
                <a:srgbClr val="E5DCE6"/>
              </a:solidFill>
              <a:latin typeface="Montserrat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BD60-8177-DEA0-8D35-9F8E31E2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FDE516-17EA-1141-EA3C-E40DCDA64110}"/>
              </a:ext>
            </a:extLst>
          </p:cNvPr>
          <p:cNvSpPr/>
          <p:nvPr/>
        </p:nvSpPr>
        <p:spPr>
          <a:xfrm>
            <a:off x="682228" y="238667"/>
            <a:ext cx="13004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EAEF6"/>
                </a:solidFill>
                <a:latin typeface="Bricolage Grotesque Extra Bold" pitchFamily="34" charset="0"/>
              </a:rPr>
              <a:t>Data visualization after model trainings in Scatter Plot</a:t>
            </a:r>
          </a:p>
          <a:p>
            <a:pPr marL="0" indent="0" algn="l">
              <a:lnSpc>
                <a:spcPts val="4750"/>
              </a:lnSpc>
              <a:buNone/>
            </a:pP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6F14CB-130B-FC8D-84DE-3249E4BC30CA}"/>
              </a:ext>
            </a:extLst>
          </p:cNvPr>
          <p:cNvSpPr txBox="1"/>
          <p:nvPr/>
        </p:nvSpPr>
        <p:spPr>
          <a:xfrm>
            <a:off x="12640805" y="7595948"/>
            <a:ext cx="1989595" cy="633651"/>
          </a:xfrm>
          <a:prstGeom prst="rect">
            <a:avLst/>
          </a:prstGeom>
          <a:solidFill>
            <a:srgbClr val="090E3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17C61F-E5D5-52BE-5AB8-A3D5247E1C80}"/>
              </a:ext>
            </a:extLst>
          </p:cNvPr>
          <p:cNvSpPr txBox="1"/>
          <p:nvPr/>
        </p:nvSpPr>
        <p:spPr>
          <a:xfrm>
            <a:off x="8915400" y="2201142"/>
            <a:ext cx="55843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EEAEF6"/>
                </a:solidFill>
                <a:latin typeface="Bricolage Grotesque Extra Bold" pitchFamily="34" charset="0"/>
              </a:rPr>
              <a:t>3d plot for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X axis for Cholesterol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Y axis for Blood Pressure (BP)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Z axis for Age</a:t>
            </a:r>
          </a:p>
          <a:p>
            <a:pPr lvl="1"/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Yellow points shows that have a </a:t>
            </a: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Disease person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Blue points shows that have a not Disease person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EEAEF6"/>
                </a:solidFill>
                <a:latin typeface="Bricolage Grotesque Extra Bold" pitchFamily="34" charset="0"/>
              </a:rPr>
              <a:t>Here the plane shows the classification of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EEAEF6"/>
              </a:solidFill>
              <a:latin typeface="Bricolage Grotesque Extra Bold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6D8E4D-96B9-97DE-2719-27761A2B8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49" y="1749877"/>
            <a:ext cx="7608573" cy="54346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8710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12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Conclusion: Unlocking Heart Health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28950"/>
            <a:ext cx="3664744" cy="2395657"/>
          </a:xfrm>
          <a:prstGeom prst="roundRect">
            <a:avLst>
              <a:gd name="adj" fmla="val 3977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1020604" y="3255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Powerful Tool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746183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 is uniquely suited to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health outcomes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like heart disease risk.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028950"/>
            <a:ext cx="3664863" cy="2395657"/>
          </a:xfrm>
          <a:prstGeom prst="roundRect">
            <a:avLst>
              <a:gd name="adj" fmla="val 3977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4912162" y="3255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Risk Factors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746183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40568" y="5651421"/>
            <a:ext cx="7556421" cy="2023008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1020604" y="58782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36865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1B991C-2F71-4E80-0EC6-43ABDD9AF593}"/>
              </a:ext>
            </a:extLst>
          </p:cNvPr>
          <p:cNvSpPr txBox="1"/>
          <p:nvPr/>
        </p:nvSpPr>
        <p:spPr>
          <a:xfrm>
            <a:off x="4860438" y="3696177"/>
            <a:ext cx="3211235" cy="125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The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</a:rPr>
              <a:t>high age ,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</a:rPr>
              <a:t>high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</a:rPr>
              <a:t>Cholesterol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and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</a:rPr>
              <a:t>High BP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causes the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</a:rPr>
              <a:t>Heart Disease</a:t>
            </a:r>
            <a:endParaRPr lang="en-IN" sz="1750" b="1" dirty="0">
              <a:solidFill>
                <a:srgbClr val="E5DCE6"/>
              </a:solidFill>
              <a:latin typeface="Montserrat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1140C-219B-72E6-8F4F-DBAF771DFA04}"/>
              </a:ext>
            </a:extLst>
          </p:cNvPr>
          <p:cNvSpPr txBox="1"/>
          <p:nvPr/>
        </p:nvSpPr>
        <p:spPr>
          <a:xfrm>
            <a:off x="992769" y="6304195"/>
            <a:ext cx="6931529" cy="85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Does weakly checkups and monitoring the vitals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</a:rPr>
              <a:t>Less eats oily food and consume </a:t>
            </a:r>
            <a:r>
              <a:rPr lang="en-US" sz="1750">
                <a:solidFill>
                  <a:srgbClr val="E5DCE6"/>
                </a:solidFill>
                <a:latin typeface="Montserrat" pitchFamily="34" charset="0"/>
              </a:rPr>
              <a:t>less sugar. </a:t>
            </a:r>
            <a:endParaRPr lang="en-IN" sz="1750" dirty="0">
              <a:solidFill>
                <a:srgbClr val="E5DCE6"/>
              </a:solidFill>
              <a:latin typeface="Montserrat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744</Words>
  <Application>Microsoft Office PowerPoint</Application>
  <PresentationFormat>Custom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Montserrat</vt:lpstr>
      <vt:lpstr>Bricolage Grotesque Extra Bold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Sahilkumar Maheshbhai Devani</cp:lastModifiedBy>
  <cp:revision>3</cp:revision>
  <dcterms:created xsi:type="dcterms:W3CDTF">2026-05-03T19:26:05Z</dcterms:created>
  <dcterms:modified xsi:type="dcterms:W3CDTF">2026-05-03T20:46:57Z</dcterms:modified>
</cp:coreProperties>
</file>